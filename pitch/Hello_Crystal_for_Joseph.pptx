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194560" cy="2194560"/>
          </a:xfrm>
          <a:prstGeom prst="diamond">
            <a:avLst/>
          </a:prstGeom>
          <a:ln w="17780">
            <a:solidFill>
              <a:srgbClr val="2A78D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566160"/>
            <a:ext cx="1188720" cy="1188720"/>
          </a:xfrm>
          <a:prstGeom prst="diamond">
            <a:avLst/>
          </a:prstGeom>
          <a:ln w="17780">
            <a:solidFill>
              <a:srgbClr val="EAF2F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Crystal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50392" y="2880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Learning over CrystalRL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392" y="34747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agent that evolves itself — and adapts to every investor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53949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Pavliuk   ·   July 2026   ·   a pitch for Joseph Lynch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 — and the two walls it always hits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42416"/>
            <a:ext cx="103327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investment agent that </a:t>
            </a:r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its own diagnostics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its own machinery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itself to each person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“I can lose 10%, I have 5 years, I need a third more” — without a human re-engineering it per user.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self-evolving agents usually cannot be trusted: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1 — you cannot read the agent.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black box that changes itself is evolution without eyes: you learn what it became only after it costs money.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2 — you cannot trust the judge.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markets the evaluator is a backtest: noisy, leaky, and gameable by the very optimization it judges.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937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studying a brain you can neither image nor stimulate, with behavioral scores the subject can fake. Neuroscience answered with imaging, interventions, and controls — so do we.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thesis, in one sentence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63040" y="1051560"/>
            <a:ext cx="9235440" cy="914400"/>
          </a:xfrm>
          <a:prstGeom prst="roundRect">
            <a:avLst>
              <a:gd name="adj" fmla="val 9000"/>
            </a:avLst>
          </a:prstGeom>
          <a:solidFill>
            <a:srgbClr val="EAF2FC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09728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may evolve itself </a:t>
            </a:r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far as it can be read.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CrystalRL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transparent agent: its policy is a table, its memory is named probabilities you can write to, its objective is the user's own contract. Interpretability is the load-bearing wall, not documentation.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Learning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coding agent on top: proposes machinery changes and tailors the system to each investor. Unlimited imagination, zero authority — experimental controls decide.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3317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rail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gates, honest refusal, pre-registration: it exists so the first two can run at full speed without fooling us.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makes self-evolution safe;  the coding agent makes it cheap.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332720" y="548640"/>
            <a:ext cx="1097280" cy="1097280"/>
          </a:xfrm>
          <a:prstGeom prst="diamond">
            <a:avLst/>
          </a:prstGeom>
          <a:ln w="13970">
            <a:solidFill>
              <a:srgbClr val="2A78D6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getting from that?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back in your own words — the fastest way to sync two brains.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check-understanding habit, borrowed from J. Eisner, How to work with a professor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https://www.cs.jhu.edu/~jason/advice/how-to-work-with-a-professor.html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one picture</a:t>
            </a:r>
            <a:endParaRPr lang="en-US" sz="2600" dirty="0"/>
          </a:p>
        </p:txBody>
      </p:sp>
      <p:pic>
        <p:nvPicPr>
          <p:cNvPr id="4" name="Image 0" descr="C:/Users/ivanp/RL for Time-Series Forecasting/data_RLagent_for_Joseph/pitch_joseph/figures/fig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960120"/>
            <a:ext cx="103327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434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CrystalRL core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contract → readable policy → execution  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you can image AND stimulate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loop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coding agent proposes; controls decide  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 / dose / replication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rail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self-calibration + a certification boundary that refuses until evidence matures  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nulls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CrystalRL — an agent you can read and write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champion policy is a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“behind the goal → full allowed equity; at the goal → lock it in” — an 8-leaf tree reproduces it at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pPr indent="0" marL="0">
              <a:spcAft>
                <a:spcPts val="1200"/>
              </a:spcAft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receptive-field atlas, not electrode guesswork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memory is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SET_BELIEF(bear)=0.8 is a command the policy must obey — write fidelity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 ±2-nat nudge slides behavior between named codes.  </a:t>
            </a:r>
            <a:pPr indent="0" marL="0">
              <a:spcAft>
                <a:spcPts val="1200"/>
              </a:spcAft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optogenetics for a policy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is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audit puts today's substrate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ceiling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(right).</a:t>
            </a:r>
            <a:endParaRPr lang="en-US" sz="1400" dirty="0"/>
          </a:p>
        </p:txBody>
      </p:sp>
      <p:pic>
        <p:nvPicPr>
          <p:cNvPr id="5" name="Image 0" descr="C:/Users/ivanp/RL for Time-Series Forecasting/data_RLagent_for_Joseph/pitch_joseph/figures/fig_transparency_cei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051560"/>
            <a:ext cx="566928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short story loses 0.0 accuracy (MDL deficit).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frontier: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harder substrates legibility is not free — a certified return↔legibility tension. Exactly the open research seat.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Learning — the coding agent on top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agent reads the logbook and diagnostics, then proposes </a:t>
            </a:r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changes to the machinery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new action menus, new scenario members, new solver knobs — </a:t>
            </a:r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imagination, zero authority.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matched-random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 stimulation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44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wrong-direction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3044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stimulus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753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half-dose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5753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dose–response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1056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out-of-time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41056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lab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636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hold-out 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4636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0058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paranoia?  FunSearch-style loops trust an </a:t>
            </a:r>
            <a:pPr indent="0" marL="0">
              <a:buNone/>
            </a:pPr>
            <a:r>
              <a:rPr lang="en-US" sz="14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evaluator. Markets are the opposite regime: the judge is a backtest — noisy, leaky, gameable.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251460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560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judge cannot be trusted,
</a:t>
            </a:r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decide, not scores.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because the </a:t>
            </a:r>
            <a:pPr indent="0" marL="0">
              <a:buNone/>
            </a:pPr>
            <a:r>
              <a:rPr lang="en-US" sz="14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readable, every accepted change is inspectable — a diff on a table, a shift in a named belief: </a:t>
            </a:r>
            <a:pPr indent="0" marL="0">
              <a:buNone/>
            </a:pPr>
            <a:r>
              <a:rPr lang="en-US" sz="1450" b="1" dirty="0">
                <a:solidFill>
                  <a:srgbClr val="C2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with eyes.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loop's track record: it already evolves itself</a:t>
            </a:r>
            <a:endParaRPr lang="en-US" sz="2600" dirty="0"/>
          </a:p>
        </p:txBody>
      </p:sp>
      <p:pic>
        <p:nvPicPr>
          <p:cNvPr id="4" name="Image 0" descr="C:/Users/ivanp/RL for Time-Series Forecasting/data_RLagent_for_Joseph/pitch_joseph/figures/fig_evolution_tr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960120"/>
            <a:ext cx="106070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20624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polygon: the LLM-proposer generation lifted the loop's own skill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→ 96%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real-data policy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 accepts, 0 placebo — and the result is a readable sentence: “P(bear) &gt; 0.66 → exposure 0.74.”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lifetime run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 proposals → 4 certified refinements; the evidence budget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0.20 → 0.40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certified wins refill what experiments spend.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Red-teamed and </a:t>
            </a:r>
            <a:pPr indent="0" marL="0">
              <a:buNone/>
            </a:pPr>
            <a:r>
              <a:rPr lang="en-US" sz="1400" b="1" dirty="0">
                <a:solidFill>
                  <a:srgbClr val="C2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twice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fixed; the fix verified by the attacker's own script.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Adaptation: the loop tailors the system to each investor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is a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capacity ≠ tolerance ≠ goal </a:t>
            </a:r>
            <a:pPr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(pain threshold vs pain tolerance)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capacity is a hard filter the evolution itself may never relax.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goal? The system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offers honest levers: time, contributions, a smaller goal — never more risk.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loop runs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profile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five investors, one machinery,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differently-evolved menus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5" name="Image 0" descr="C:/Users/ivanp/RL for Time-Series Forecasting/data_RLagent_for_Joseph/pitch_joseph/figures/fig_ablation_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05840"/>
            <a:ext cx="576072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44348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learning curves vs. the no-agent cycle-0 baseline; solid = development, dashed = held-out.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AF2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cycles, 15 accepted, all 15 </a:t>
            </a:r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hold-confirmed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conservative profile: goal probability </a:t>
            </a:r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→ 52%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an unchanged risk budget.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rail holds (so evolution can run)</a:t>
            </a:r>
            <a:endParaRPr lang="en-US" sz="2600" dirty="0"/>
          </a:p>
        </p:txBody>
      </p:sp>
      <p:pic>
        <p:nvPicPr>
          <p:cNvPr id="4" name="Image 0" descr="C:/Users/ivanp/RL for Time-Series Forecasting/data_RLagent_for_Joseph/pitch_joseph/figures/fig_backtest_exceed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97280"/>
            <a:ext cx="576072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80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backtest: quote at every past date, replay the same policy on what actually happened.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92240" y="109728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 point-in-time cells, two markets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profiles ≥ 80%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exceedance; risk (drawdown) promises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all cells, both markets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China: </a:t>
            </a:r>
            <a:pPr indent="0" marL="0">
              <a:buNone/>
            </a:pPr>
            <a:r>
              <a:rPr lang="en-US" sz="1400" b="1" dirty="0">
                <a:solidFill>
                  <a:srgbClr val="C2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separate verdict, never averaged; all three failures diagnosed, fixes queued.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Self-calibration: 7/10 gates green → every number still wears the UNCALIBRATED label; certification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by design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dated unlocks (2027 / 2029).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51663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replication-crisis lessons — pre-registration, publishing nulls, no averaging across species — implemented as code.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not work — the graveyard that makes survivors believable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(famous valuation indicator): made forecasts worse → falsified, reverted.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PPO challenger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loses to the readable table → reported, not hidden.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Nasdaq-tracking sleeve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dominated every Chinese profile → red-flagged by the agent itself: its edge is one untestable sample era.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conservative promise failed its first backtest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(48.5% vs 80%) → the diagnosis became a structural fix: 48.5% → 84.2%, repairing exactly the diagnosed cells.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hard substrates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legibility is not free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certified return↔legibility tension —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2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frontier of the interpretability track.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5303520"/>
            <a:ext cx="9784080" cy="868680"/>
          </a:xfrm>
          <a:prstGeom prst="roundRect">
            <a:avLst>
              <a:gd name="adj" fmla="val 9474"/>
            </a:avLst>
          </a:prstGeom>
          <a:solidFill>
            <a:srgbClr val="EAF2F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53492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demonstrably </a:t>
            </a:r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its own ideas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one whose surviving claims — and whose </a:t>
            </a:r>
            <a:pPr algn="ct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self-modifications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can trust.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becomes a product (the investor view)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at software cost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tailored strategy normally needs a human quant per segment — here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coding agent does the tailoring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change certified.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agent is an auditable agent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tables and named beliefs — an audit standard competitors do not have, where regulators demand explainability.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Self-evolution compounds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autonomous run already funds its own experiments — the machine improves while we sleep, under gates.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you can date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80 forecasts locked before realization; scoring reads 2027 / 2029. Auditable, not marketing.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6177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 vs 1.39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52120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— the certified live rule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buy-and-hold (629 untouched days)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4480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46177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−12.9% vs −15.5%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52120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— same rule,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 less pain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4480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46177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→ 0.40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83880" y="52120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loop's evidence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self-funding under gates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part: a six-month research program, not a task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2412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neuroscientist of an artificial subject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read–write access to every “synapse,” behavior reproducible by seed, interventions free and ethical — and the subject </a:t>
            </a:r>
            <a:pPr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itself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interpretability must keep up with evolution.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the measuring instruments: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simulatability psychophysics (can a human predict the policy in unseen cells?); harden the ceiling metrics across seeds, substrates, profiles.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3273552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 — the atlas: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ethogram of behavioral motifs across profiles; belief faithfulness (does P(bear) encode what its name claims?); SET_BELIEF as a mapped optogenetics write-protocol.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4306824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3–5 — your own loops: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HL loops with your own coding agent to push the certified return↔legibility frontier — where legibility is not free.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5340096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5–6+ — the explanation gate: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“why” the product tells a user passes faithfulness tests you own; standing red-team seat (dead salmon); co-author Hello Crystal + lead the methods paper (“an ethogram of an artificial investor”).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handing you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161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CrystalRL paper (Overleaf)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“CrystalRL — Crystal Clear Reinforcement Learning”: the interpretable-model paper you will drive. Your hypotheses and tasks are inside as todo notes.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Overleaf link:  [ I will paste it here 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2161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repository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0" y="1673352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github.com/Sqaard/self-evolving-trading-bot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it; then README → ONBOARDING.md — the first result takes an afternoon.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22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agent_skill.md — for your Claude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279392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into your personal Claude: the lab's honesty contract, your track, the guardrails, and the mandatory logging protocol your agent must follow.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4F8FD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22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My experiment logbook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4279392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EXPERIMENT_LOGBOOK.md — already filled: use my entries as the worked example. The rule: update it after EVERY experiment — an unlogged result does not exist.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in the repo — if my laptop dies tomorrow, the project does not.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work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 (Sunday): online meeting or a recorded video.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sent 1–2 days in advance, four points: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worked on since we last met,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struggling with,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help with,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goals are for next time.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5087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paper first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drafts exist; \joseph{} todos are waiting for you.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 + honest logbook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run logged, nulls first; hand-off-ready at any time.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null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negative result is a result.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asking beats a week of guessing.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per J. Eisner, How to work with a professor (“working with others”) + M. Dredze, How to be a successful PhD 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https://www.cs.jhu.edu/~jason/advice/how-to-work-with-a-professor.html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88720" y="1097280"/>
            <a:ext cx="9784080" cy="1005840"/>
          </a:xfrm>
          <a:prstGeom prst="roundRect">
            <a:avLst>
              <a:gd name="adj" fmla="val 8182"/>
            </a:avLst>
          </a:prstGeom>
          <a:solidFill>
            <a:srgbClr val="EAF2F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430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</a:t>
            </a:r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track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load-bearing wall of a self-evolving agent — as </a:t>
            </a:r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pPr algn="ctr" indent="0" marL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Crystal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pPr algn="ctr" indent="0" marL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CrystalRL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next Sunday: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sandbox and read the top-5 logbook entries (an afternoon);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which phase of the six-month program you would reshape — it is a proposal, not a syllabus;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</a:t>
            </a:r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objections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breaking our explanations is the job.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Crystal.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is waiting to be studied — and it will not sit still.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692640" y="822960"/>
            <a:ext cx="1828800" cy="1828800"/>
          </a:xfrm>
          <a:prstGeom prst="diamond">
            <a:avLst/>
          </a:prstGeom>
          <a:ln w="17780">
            <a:solidFill>
              <a:srgbClr val="2A78D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4846320"/>
            <a:ext cx="1005840" cy="1005840"/>
          </a:xfrm>
          <a:prstGeom prst="diamond">
            <a:avLst/>
          </a:prstGeom>
          <a:ln w="17780">
            <a:solidFill>
              <a:srgbClr val="EAF2FC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first principle is that you must not fool yourself —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are the easiest person to fool.”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977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Richard Feynman, Cargo Cult Science (1974)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is built to obey that sentence.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Crystal - Heuristic Learning over CrystalRL</dc:title>
  <dc:subject>PptxGenJS Presentation</dc:subject>
  <dc:creator>Ivan Pavliuk</dc:creator>
  <cp:lastModifiedBy>Ivan Pavliuk</cp:lastModifiedBy>
  <cp:revision>1</cp:revision>
  <dcterms:created xsi:type="dcterms:W3CDTF">2026-07-11T22:02:52Z</dcterms:created>
  <dcterms:modified xsi:type="dcterms:W3CDTF">2026-07-11T22:02:52Z</dcterms:modified>
</cp:coreProperties>
</file>